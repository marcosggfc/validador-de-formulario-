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k681NcW8ZMDJYJ1dh7gbkNTw9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978B9B-9E3C-4779-93AC-062ED4CCB55C}">
  <a:tblStyle styleId="{A1978B9B-9E3C-4779-93AC-062ED4CCB55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73152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457200" y="2194560"/>
            <a:ext cx="2286000" cy="502920"/>
          </a:xfrm>
          <a:prstGeom prst="rect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21945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ISO/IEC 29119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8346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Pruebas de Software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474720" y="640080"/>
            <a:ext cx="53035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Validador de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Formulario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474720" y="26517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Módulo: Entornos de Desarrollo  ·  1º DAM  ·  CESUR Zaragoza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474720" y="3200400"/>
            <a:ext cx="5303520" cy="36576"/>
          </a:xfrm>
          <a:prstGeom prst="rect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474720" y="3383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Alumno: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Marcos Gracia García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474720" y="37490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Repositorio: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github.com/MarcosGGFC/Validador-de-Formulario-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474720" y="43891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Mayo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proyecto que probamos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4320" y="100584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274320" y="1005840"/>
            <a:ext cx="64008" cy="1371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11480" y="11430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validarEmail()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11480" y="16002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 formato de correo electrónico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00400" y="100584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200400" y="1005840"/>
            <a:ext cx="64008" cy="1371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337560" y="11430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validarPassword()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37560" y="16002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Longitud mínima 8 chars + 1 número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126480" y="100584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126480" y="1005840"/>
            <a:ext cx="64008" cy="1371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263640" y="11430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validarTelefono()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63640" y="16002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dígitos, prefijo 6 / 7 / 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74320" y="274320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74320" y="2743200"/>
            <a:ext cx="64008" cy="1371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11480" y="28803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validarNombre()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11480" y="33375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Solo letras y espacios, 2-50 chars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200400" y="2743200"/>
            <a:ext cx="26517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200400" y="2743200"/>
            <a:ext cx="64008" cy="1371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337560" y="28803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validarDNI()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337560" y="33375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dígitos + letra (algoritmo oficial)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Clase: ValidadorFormulario.java  ·  Proyecto: validador-formulario  ·  Versión: 1.0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Planificación de pruebas  ·  ISO 29119 Parte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Criterios de Entrada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74320" y="1463040"/>
            <a:ext cx="41148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11480" y="146304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Código compila sin errores (mvn compile)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74320" y="2148840"/>
            <a:ext cx="4114800" cy="59436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11480" y="214884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JDK 17 + Maven + JUnit 5 configurados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4320" y="2834640"/>
            <a:ext cx="41148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11480" y="283464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Commit 1 con código fuente realizado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74320" y="3520440"/>
            <a:ext cx="4114800" cy="59436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11480" y="352044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Casos de prueba diseñados antes de implementar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Criterios de Salida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754880" y="1463040"/>
            <a:ext cx="41148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892040" y="146304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100% de casos de prueba ejecutados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54880" y="2148840"/>
            <a:ext cx="4114800" cy="59436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892040" y="214884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Cobertura JaCoCo ≥ 80%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754880" y="2834640"/>
            <a:ext cx="41148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892040" y="283464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Todos los defectos documentados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754880" y="3520440"/>
            <a:ext cx="4114800" cy="59436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892040" y="352044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Defectos de severidad Alta corregidos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Estrategia: </a:t>
            </a: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Pruebas unitarias con JUnit 5 · Caja Negra + Caja Blanca · Tests parametrizados · Cobertura con JaCoCo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 de casos de prueba  ·  Particiones equivalentes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" name="Google Shape;91;p4"/>
          <p:cNvGraphicFramePr/>
          <p:nvPr/>
        </p:nvGraphicFramePr>
        <p:xfrm>
          <a:off x="2286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{A1978B9B-9E3C-4779-93AC-062ED4CCB55C}</a:tableStyleId>
              </a:tblPr>
              <a:tblGrid>
                <a:gridCol w="1737350"/>
                <a:gridCol w="2194550"/>
                <a:gridCol w="2651750"/>
                <a:gridCol w="2286000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Método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Entrada válida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Entrada inválida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Valor límite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1B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validarEmail()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"usuario@gmail.com" → true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"usuariogmail.com"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"usuario@" → true (BUG)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"@" → true (BUG)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1B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validarPassword()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"Abcdefg1" → true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"AbcdefGH" (sin nº)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chars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1B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validarTelefono()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"612345678" → true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"812345678"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dígitos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1B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validarNombre()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"Juan Garcia" → true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"María José" → false (BUG)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char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1B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validarDNI()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"12345678Z" → true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"12345678A"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1B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chars → false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Técnicas de diseño aplicadas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28600" y="960120"/>
            <a:ext cx="4114800" cy="1691640"/>
          </a:xfrm>
          <a:prstGeom prst="rect">
            <a:avLst/>
          </a:prstGeom>
          <a:solidFill>
            <a:srgbClr val="3A4F9A"/>
          </a:solidFill>
          <a:ln cap="flat" cmpd="sng" w="12700">
            <a:solidFill>
              <a:srgbClr val="3A4F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228600" y="960120"/>
            <a:ext cx="4114800" cy="502920"/>
          </a:xfrm>
          <a:prstGeom prst="rect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338328" y="960120"/>
            <a:ext cx="38953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Caja Negra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38328" y="1490472"/>
            <a:ext cx="38953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Particiones equivalentes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38328" y="1801368"/>
            <a:ext cx="3895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Pruebas sin ver el código. Solo importa la entrada y la salida esperada. Ej: email válido → true, sin arroba → false.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709160" y="960120"/>
            <a:ext cx="4114800" cy="16916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709160" y="960120"/>
            <a:ext cx="4114800" cy="502920"/>
          </a:xfrm>
          <a:prstGeom prst="rect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818888" y="960120"/>
            <a:ext cx="38953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Caja Blanca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818888" y="1490472"/>
            <a:ext cx="38953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Cobertura de ramas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818888" y="1801368"/>
            <a:ext cx="3895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analiza el código fuente para cubrir cada rama del if/else. Ej: rama null, rama length &lt; 8, rama sin dígito.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28600" y="2880360"/>
            <a:ext cx="4114800" cy="1691640"/>
          </a:xfrm>
          <a:prstGeom prst="rect">
            <a:avLst/>
          </a:prstGeom>
          <a:solidFill>
            <a:srgbClr val="2A4A8A"/>
          </a:solidFill>
          <a:ln cap="flat" cmpd="sng" w="12700">
            <a:solidFill>
              <a:srgbClr val="2A4A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228600" y="2880360"/>
            <a:ext cx="4114800" cy="502920"/>
          </a:xfrm>
          <a:prstGeom prst="rect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38328" y="2880360"/>
            <a:ext cx="38953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Valores Límite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38328" y="3410712"/>
            <a:ext cx="38953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Boundary Value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38328" y="3721608"/>
            <a:ext cx="3895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prueba justo en los bordes: 7 chars (falla), 8 chars (pasa), 1 char nombre (falla), 2 chars (pasa).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709160" y="2880360"/>
            <a:ext cx="4114800" cy="1691640"/>
          </a:xfrm>
          <a:prstGeom prst="rect">
            <a:avLst/>
          </a:prstGeom>
          <a:solidFill>
            <a:srgbClr val="3A4F9A"/>
          </a:solidFill>
          <a:ln cap="flat" cmpd="sng" w="12700">
            <a:solidFill>
              <a:srgbClr val="3A4F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709160" y="2880360"/>
            <a:ext cx="4114800" cy="502920"/>
          </a:xfrm>
          <a:prstGeom prst="rect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818888" y="2880360"/>
            <a:ext cx="38953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@ParameterizedTest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818888" y="3410712"/>
            <a:ext cx="38953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Tests parametrizados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818888" y="3721608"/>
            <a:ext cx="3895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único método de test verifica múltiples valores. Ej: prefijos 6, 7 y 9 del teléfono en una sola anotación.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 con JUnit 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74320" y="914400"/>
            <a:ext cx="5120640" cy="3977640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3A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11480" y="1005840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43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4C430"/>
                </a:solidFill>
                <a:latin typeface="Consolas"/>
                <a:ea typeface="Consolas"/>
                <a:cs typeface="Consolas"/>
                <a:sym typeface="Consolas"/>
              </a:rPr>
              <a:t>@Test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11480" y="1271016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7F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8C7FA"/>
                </a:solidFill>
                <a:latin typeface="Consolas"/>
                <a:ea typeface="Consolas"/>
                <a:cs typeface="Consolas"/>
                <a:sym typeface="Consolas"/>
              </a:rPr>
              <a:t>@DisplayName("Email sin punto debe devolver false (BUG)")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11480" y="1536192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void testEmailSinPuntoEnDominioBUG()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11480" y="1801368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assertFalse(validador.validarEmail("usuario@gmail"),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11480" y="2066544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"BUG: falta punto en el dominio");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11480" y="2331720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11480" y="2596896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11480" y="2862072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43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4C430"/>
                </a:solidFill>
                <a:latin typeface="Consolas"/>
                <a:ea typeface="Consolas"/>
                <a:cs typeface="Consolas"/>
                <a:sym typeface="Consolas"/>
              </a:rPr>
              <a:t>@ParameterizedTest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11480" y="3127248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7F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8C7FA"/>
                </a:solidFill>
                <a:latin typeface="Consolas"/>
                <a:ea typeface="Consolas"/>
                <a:cs typeface="Consolas"/>
                <a:sym typeface="Consolas"/>
              </a:rPr>
              <a:t>@DisplayName("Prefijos válidos 6, 7, 9 → true")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11480" y="3392424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@ValueSource(strings = {"612345678",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11480" y="3657600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"712345678", "912345678"})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11480" y="3922776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void testTelefonoPrefijoValido(String tel)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11480" y="4187952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assertTrue(validador.validarTelefono(tel));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11480" y="4453128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669280" y="960120"/>
            <a:ext cx="32004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5669280" y="960120"/>
            <a:ext cx="64008" cy="868680"/>
          </a:xfrm>
          <a:prstGeom prst="rect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852160" y="96012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858000" y="96012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Anotaciones de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669280" y="1965960"/>
            <a:ext cx="32004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5669280" y="1965960"/>
            <a:ext cx="64008" cy="868680"/>
          </a:xfrm>
          <a:prstGeom prst="rect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852160" y="19659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858000" y="196596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Ejecuciones reales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669280" y="2971800"/>
            <a:ext cx="32004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669280" y="2971800"/>
            <a:ext cx="64008" cy="868680"/>
          </a:xfrm>
          <a:prstGeom prst="rect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852160" y="297180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858000" y="297180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Métodos probados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669280" y="3977640"/>
            <a:ext cx="32004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669280" y="3977640"/>
            <a:ext cx="64008" cy="868680"/>
          </a:xfrm>
          <a:prstGeom prst="rect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852160" y="397764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858000" y="397764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Tests pasan (tras fix)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de ejecución  ·  mvn test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 de corregir bugs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74320" y="1463040"/>
            <a:ext cx="41148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84048" y="14630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Tests ejecutados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926080" y="14630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74320" y="2057400"/>
            <a:ext cx="4114800" cy="54864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384048" y="2057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Tests OK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926080" y="2057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274320" y="2651760"/>
            <a:ext cx="41148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84048" y="2651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Tests KO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2926080" y="26517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74320" y="3246120"/>
            <a:ext cx="4114800" cy="54864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84048" y="32461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Tasa de éxito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2926080" y="32461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89,7 %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74320" y="3840480"/>
            <a:ext cx="41148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84048" y="38404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Fallos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926080" y="38404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IR-001 (email)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DESPUÉS de corregir bugs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754880" y="1463040"/>
            <a:ext cx="41148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864608" y="14630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Tests ejecutados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406640" y="14630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754880" y="2057400"/>
            <a:ext cx="4114800" cy="54864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864608" y="2057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Tests OK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406640" y="2057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754880" y="2651760"/>
            <a:ext cx="41148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864608" y="2651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Tests KO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406640" y="26517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754880" y="3246120"/>
            <a:ext cx="4114800" cy="54864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864608" y="32461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Tasa de éxito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406640" y="32461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754880" y="3840480"/>
            <a:ext cx="41148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864608" y="38404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Commit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406640" y="38404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a9fad91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SHA commit corrección: a9fad91  ·  Fecha: 25/05/2026  ·  BUILD SUCCESS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Cobertura de código  ·  JaCoCo 0.8.11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943465"/>
            <a:ext cx="8839201" cy="1804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Errores encontrados  ·  Incidencias IR-001 e IR-002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274320" y="914400"/>
            <a:ext cx="8595360" cy="1828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3A4F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274320" y="914400"/>
            <a:ext cx="1097280" cy="5029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274320" y="91440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IR-001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463040" y="9144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430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4C430"/>
                </a:solidFill>
                <a:latin typeface="Consolas"/>
                <a:ea typeface="Consolas"/>
                <a:cs typeface="Consolas"/>
                <a:sym typeface="Consolas"/>
              </a:rPr>
              <a:t>validarEmail()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132320" y="987552"/>
            <a:ext cx="1645920" cy="34747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7132320" y="98755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Corregido a9fad91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11480" y="1481328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Solo comprueba contains('@'). Acepta 'usuario@', '@', 'a@b@c' como válidos.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11480" y="193852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4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C430"/>
                </a:solidFill>
                <a:latin typeface="Calibri"/>
                <a:ea typeface="Calibri"/>
                <a:cs typeface="Calibri"/>
                <a:sym typeface="Calibri"/>
              </a:rPr>
              <a:t>Fix: </a:t>
            </a:r>
            <a:r>
              <a:rPr b="0" i="0" lang="en-US" sz="1100" u="none" cap="none" strike="noStrike">
                <a:solidFill>
                  <a:srgbClr val="A8C7FA"/>
                </a:solidFill>
                <a:latin typeface="Consolas"/>
                <a:ea typeface="Consolas"/>
                <a:cs typeface="Consolas"/>
                <a:sym typeface="Consolas"/>
              </a:rPr>
              <a:t>email.matches("^[\\w._%+\\-]+@[\\w.\\-]+\\.[a-zA-Z]{2,}$")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11480" y="230428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Tests que lo detectan: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TC-005, TC-006, TC-007, TC-008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274320" y="2926080"/>
            <a:ext cx="8595360" cy="1828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3A4F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274320" y="2926080"/>
            <a:ext cx="1097280" cy="5029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274320" y="29260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IR-002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463040" y="29260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430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4C430"/>
                </a:solidFill>
                <a:latin typeface="Consolas"/>
                <a:ea typeface="Consolas"/>
                <a:cs typeface="Consolas"/>
                <a:sym typeface="Consolas"/>
              </a:rPr>
              <a:t>validarNombre()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132320" y="2999232"/>
            <a:ext cx="1645920" cy="34747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132320" y="299923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Corregido a9fad91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11480" y="3493008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regex [a-zA-Z ] no acepta tildes ni ñ. Rechaza 'María José', 'Ángel', 'Begoña'.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11480" y="395020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4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C430"/>
                </a:solidFill>
                <a:latin typeface="Calibri"/>
                <a:ea typeface="Calibri"/>
                <a:cs typeface="Calibri"/>
                <a:sym typeface="Calibri"/>
              </a:rPr>
              <a:t>Fix: </a:t>
            </a:r>
            <a:r>
              <a:rPr b="0" i="0" lang="en-US" sz="1100" u="none" cap="none" strike="noStrike">
                <a:solidFill>
                  <a:srgbClr val="A8C7FA"/>
                </a:solidFill>
                <a:latin typeface="Consolas"/>
                <a:ea typeface="Consolas"/>
                <a:cs typeface="Consolas"/>
                <a:sym typeface="Consolas"/>
              </a:rPr>
              <a:t>nombre.matches("[\\p{L} ]+")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11480" y="43159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Tests que lo detectan: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TC-017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  ·  Aprendizajes  ·  Repositorio Git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0" y="10058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6263640" y="10058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C430"/>
                </a:solidFill>
                <a:latin typeface="Calibri"/>
                <a:ea typeface="Calibri"/>
                <a:cs typeface="Calibri"/>
                <a:sym typeface="Calibri"/>
              </a:rPr>
              <a:t>Historial Git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623560" y="1600200"/>
            <a:ext cx="164592" cy="164592"/>
          </a:xfrm>
          <a:prstGeom prst="ellipse">
            <a:avLst/>
          </a:prstGeom>
          <a:solidFill>
            <a:srgbClr val="3A4F9A"/>
          </a:solidFill>
          <a:ln cap="flat" cmpd="sng" w="12700">
            <a:solidFill>
              <a:srgbClr val="3A4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5870448" y="1554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feat: estructura inicial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623560" y="1929384"/>
            <a:ext cx="164592" cy="164592"/>
          </a:xfrm>
          <a:prstGeom prst="ellipse">
            <a:avLst/>
          </a:prstGeom>
          <a:solidFill>
            <a:srgbClr val="3A4F9A"/>
          </a:solidFill>
          <a:ln cap="flat" cmpd="sng" w="12700">
            <a:solidFill>
              <a:srgbClr val="3A4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870448" y="1883664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feat: tests validarEmail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623560" y="2258568"/>
            <a:ext cx="164592" cy="164592"/>
          </a:xfrm>
          <a:prstGeom prst="ellipse">
            <a:avLst/>
          </a:prstGeom>
          <a:solidFill>
            <a:srgbClr val="3A4F9A"/>
          </a:solidFill>
          <a:ln cap="flat" cmpd="sng" w="12700">
            <a:solidFill>
              <a:srgbClr val="3A4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870448" y="221284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docs: TC-001 a TC-008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623560" y="2587752"/>
            <a:ext cx="164592" cy="164592"/>
          </a:xfrm>
          <a:prstGeom prst="ellipse">
            <a:avLst/>
          </a:prstGeom>
          <a:solidFill>
            <a:srgbClr val="3A4F9A"/>
          </a:solidFill>
          <a:ln cap="flat" cmpd="sng" w="12700">
            <a:solidFill>
              <a:srgbClr val="3A4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5870448" y="254203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feat: tests </a:t>
            </a:r>
            <a:r>
              <a:rPr lang="en-US" sz="1000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623560" y="2916936"/>
            <a:ext cx="164592" cy="164592"/>
          </a:xfrm>
          <a:prstGeom prst="ellipse">
            <a:avLst/>
          </a:prstGeom>
          <a:solidFill>
            <a:srgbClr val="3A4F9A"/>
          </a:solidFill>
          <a:ln cap="flat" cmpd="sng" w="12700">
            <a:solidFill>
              <a:srgbClr val="3A4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5623560" y="3246113"/>
            <a:ext cx="164700" cy="164700"/>
          </a:xfrm>
          <a:prstGeom prst="ellipse">
            <a:avLst/>
          </a:prstGeom>
          <a:solidFill>
            <a:srgbClr val="F4C430"/>
          </a:solidFill>
          <a:ln cap="flat" cmpd="sng" w="12700">
            <a:solidFill>
              <a:srgbClr val="F4C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5870448" y="3200393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C43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4C430"/>
                </a:solidFill>
                <a:latin typeface="Consolas"/>
                <a:ea typeface="Consolas"/>
                <a:cs typeface="Consolas"/>
                <a:sym typeface="Consolas"/>
              </a:rPr>
              <a:t>fix: corregir IR-001 e IR-002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623560" y="3575297"/>
            <a:ext cx="164700" cy="164700"/>
          </a:xfrm>
          <a:prstGeom prst="ellipse">
            <a:avLst/>
          </a:prstGeom>
          <a:solidFill>
            <a:srgbClr val="3A4F9A"/>
          </a:solidFill>
          <a:ln cap="flat" cmpd="sng" w="12700">
            <a:solidFill>
              <a:srgbClr val="3A4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5870448" y="3529577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docs: informe final + presentación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943473" y="2871273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docs: TC-00</a:t>
            </a:r>
            <a:r>
              <a:rPr lang="en-US" sz="1000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US" sz="1000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475" y="1005850"/>
            <a:ext cx="3991854" cy="3665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2026-05-25T08:20:03Z</dcterms:created>
  <dc:creator>PptxGenJS</dc:creator>
</cp:coreProperties>
</file>